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612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 i="0">
                <a:solidFill>
                  <a:srgbClr val="FFFFFF"/>
                </a:solidFill>
              </a:rPr>
              <a:t>סיור באוניברסיטה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1">
                <a:solidFill>
                  <a:srgbClr val="F5C518"/>
                </a:solidFill>
              </a:rPr>
              <a:t>שקופית 1 — תיאור המערכת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3474720" cy="530352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0" b="0" i="0">
                <a:solidFill>
                  <a:srgbClr val="FFFFFF"/>
                </a:solidFill>
              </a:rPr>
              <a:t>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92608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1" i="0">
                <a:solidFill>
                  <a:srgbClr val="F5C518"/>
                </a:solidFill>
              </a:rPr>
              <a:t>סיור באוניברסיטה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74903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 i="1">
                <a:solidFill>
                  <a:srgbClr val="D0E4F7"/>
                </a:solidFill>
              </a:rPr>
              <a:t>משחק לוח בסגנון מונופולי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4343400"/>
            <a:ext cx="3383280" cy="475488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398264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1655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</a:rPr>
              <a:t>ריבועים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892040"/>
            <a:ext cx="3383280" cy="475488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4946903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651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</a:rPr>
              <a:t>נכסים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5440680"/>
            <a:ext cx="3383280" cy="475488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5495544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51383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</a:rPr>
              <a:t>תחנות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989320"/>
            <a:ext cx="3383280" cy="475488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6044183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0624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</a:rPr>
              <a:t>ניצחון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14173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1" i="0">
                <a:solidFill>
                  <a:srgbClr val="F5C518"/>
                </a:solidFill>
              </a:rPr>
              <a:t>מה זה?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1874519"/>
            <a:ext cx="8046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>
                <a:solidFill>
                  <a:srgbClr val="FFFFFF"/>
                </a:solidFill>
              </a:rPr>
              <a:t>● משחק לוח בסגנון מונופולי בנושא קורסי אוניברסיטה</a:t>
            </a:r>
          </a:p>
          <a:p>
            <a:pPr algn="r" rtl="1"/>
            <a:r>
              <a:rPr sz="1700">
                <a:solidFill>
                  <a:srgbClr val="FFFFFF"/>
                </a:solidFill>
              </a:rPr>
              <a:t>● 2–4 שחקנים: אנושיים או בוטים</a:t>
            </a:r>
          </a:p>
          <a:p>
            <a:pPr algn="r" rtl="1"/>
            <a:r>
              <a:rPr sz="1700">
                <a:solidFill>
                  <a:srgbClr val="FFFFFF"/>
                </a:solidFill>
              </a:rPr>
              <a:t>● לוח של 36 ריבועים: נכסים, תחנות וריבועים מיוחדים</a:t>
            </a:r>
          </a:p>
          <a:p>
            <a:pPr algn="r" rtl="1"/>
            <a:r>
              <a:rPr sz="1700">
                <a:solidFill>
                  <a:srgbClr val="FFFFFF"/>
                </a:solidFill>
              </a:rPr>
              <a:t>● שתי גרסאות: קונסול (JOptionPane) וממשק גרפי (Swing GUI)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3749039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1" i="0">
                <a:solidFill>
                  <a:srgbClr val="F5C518"/>
                </a:solidFill>
              </a:rPr>
              <a:t>תכונות עיקריות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42519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>
                <a:solidFill>
                  <a:srgbClr val="FFFFFF"/>
                </a:solidFill>
              </a:rPr>
              <a:t>● קנייה ושדרוג נכסים: קרקע ← בית 1 ← בית 2 ← בית 3 ← מלון</a:t>
            </a:r>
          </a:p>
          <a:p>
            <a:pPr algn="r" rtl="1"/>
            <a:r>
              <a:rPr sz="1700">
                <a:solidFill>
                  <a:srgbClr val="FFFFFF"/>
                </a:solidFill>
              </a:rPr>
              <a:t>● מיני-גיים רולטה בריבוע התחלה — 10 סוגי הימור, עד 35:1</a:t>
            </a:r>
          </a:p>
          <a:p>
            <a:pPr algn="r" rtl="1"/>
            <a:r>
              <a:rPr sz="1700">
                <a:solidFill>
                  <a:srgbClr val="FFFFFF"/>
                </a:solidFill>
              </a:rPr>
              <a:t>● שדה תעופה (טלפורט), כלא, מכפיל אליפות עולמית</a:t>
            </a:r>
          </a:p>
          <a:p>
            <a:pPr algn="r" rtl="1"/>
            <a:r>
              <a:rPr sz="1700">
                <a:solidFill>
                  <a:srgbClr val="FFFFFF"/>
                </a:solidFill>
              </a:rPr>
              <a:t>● 3 תנאי ניצחון: 4 תחנות | 3 מונופולים | שורה מלאה בלוח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612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 i="0">
                <a:solidFill>
                  <a:srgbClr val="FFFFFF"/>
                </a:solidFill>
              </a:rPr>
              <a:t>תכנית עבודה ואילוצים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1">
                <a:solidFill>
                  <a:srgbClr val="F5C518"/>
                </a:solidFill>
              </a:rPr>
              <a:t>שקופית 2 — Milestones + אילוצים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173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1" i="0">
                <a:solidFill>
                  <a:srgbClr val="F5C518"/>
                </a:solidFill>
              </a:rPr>
              <a:t>אבני דרך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920240"/>
            <a:ext cx="384048" cy="41148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975104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95681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</a:rPr>
              <a:t>תכנון UML וחלוקת מחלקות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587752"/>
            <a:ext cx="384048" cy="41148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642616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2432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</a:rPr>
              <a:t>מחלקות בסיס: Player, Tile, Board, Dice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255264"/>
            <a:ext cx="384048" cy="41148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331012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29184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</a:rPr>
              <a:t>לולאת משחק: תורות, תשלומים, כלא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922776"/>
            <a:ext cx="384048" cy="41148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3977639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95935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</a:rPr>
              <a:t>טיילים מיוחדים: Airport, WorldChampionships, Roulette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90288"/>
            <a:ext cx="384048" cy="41148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4645151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626864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</a:rPr>
              <a:t>GUI מלא: BoardPanel, SidebarPanel, דיאלוגים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5257800"/>
            <a:ext cx="384048" cy="41148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5312664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29437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</a:rPr>
              <a:t>בדיקות, מקרי קצה ועדכון סופי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9320" y="1325880"/>
            <a:ext cx="36576" cy="5303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14173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1" i="0">
                <a:solidFill>
                  <a:srgbClr val="F5C518"/>
                </a:solidFill>
              </a:rPr>
              <a:t>אילוצים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192024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>
                <a:solidFill>
                  <a:srgbClr val="D0E4F7"/>
                </a:solidFill>
              </a:rPr>
              <a:t>⚠  Java בלבד — ספריות סטנדרטיות (javax.swing, java.util)</a:t>
            </a:r>
          </a:p>
          <a:p>
            <a:pPr algn="r" rtl="1"/>
            <a:r>
              <a:rPr sz="1600">
                <a:solidFill>
                  <a:srgbClr val="D0E4F7"/>
                </a:solidFill>
              </a:rPr>
              <a:t>⚠  ללא תלויות חיצוניות — רץ על כל JDK</a:t>
            </a:r>
          </a:p>
          <a:p>
            <a:pPr algn="r" rtl="1"/>
            <a:r>
              <a:rPr sz="1600">
                <a:solidFill>
                  <a:srgbClr val="D0E4F7"/>
                </a:solidFill>
              </a:rPr>
              <a:t>⚠  גרסת קונסול וגרסת GUI חולקות אותה לוגיקת משחק</a:t>
            </a:r>
          </a:p>
          <a:p>
            <a:pPr algn="r" rtl="1"/>
            <a:r>
              <a:rPr sz="1600">
                <a:solidFill>
                  <a:srgbClr val="D0E4F7"/>
                </a:solidFill>
              </a:rPr>
              <a:t>⚠  מקרי קצה: פשיטת רגל, קנס כלא, נעילת בית 3</a:t>
            </a:r>
          </a:p>
          <a:p>
            <a:pPr algn="r" rtl="1"/>
            <a:r>
              <a:rPr sz="1600">
                <a:solidFill>
                  <a:srgbClr val="D0E4F7"/>
                </a:solidFill>
              </a:rPr>
              <a:t>⚠  הבוט לא חוסם את ה-UI thread האנושי</a:t>
            </a:r>
          </a:p>
          <a:p>
            <a:pPr algn="r" rtl="1"/>
            <a:r>
              <a:rPr sz="1600">
                <a:solidFill>
                  <a:srgbClr val="D0E4F7"/>
                </a:solidFill>
              </a:rPr>
              <a:t>⚠  מועד הגשה: 10.7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612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 i="0">
                <a:solidFill>
                  <a:srgbClr val="FFFFFF"/>
                </a:solidFill>
              </a:rPr>
              <a:t>פונקציונליות הפרויקט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1">
                <a:solidFill>
                  <a:srgbClr val="F5C518"/>
                </a:solidFill>
              </a:rPr>
              <a:t>שקופית 3 — תכונות וזרימת משחק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3657600" cy="5212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3657600" cy="5029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38988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 i="0">
                <a:solidFill>
                  <a:srgbClr val="F5C518"/>
                </a:solidFill>
              </a:rPr>
              <a:t>🏠  נכסים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920240"/>
            <a:ext cx="347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>
                <a:solidFill>
                  <a:srgbClr val="D0E4F7"/>
                </a:solidFill>
              </a:rPr>
              <a:t>✓  24 נכסים ב-8 קבוצות צבע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קנייה ב-4 רמות: קרקע / בתים / מלון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שכירות: x1 -&gt; x3 -&gt; x6 -&gt; x10 -&gt; x16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מכירה ב-75% מערך הרכישה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בית 3 נעול עד סיום סיבוב ראשון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1371600"/>
            <a:ext cx="3657600" cy="5212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59" y="1371600"/>
            <a:ext cx="3657600" cy="5029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399" y="138988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 i="0">
                <a:solidFill>
                  <a:srgbClr val="F5C518"/>
                </a:solidFill>
              </a:rPr>
              <a:t>🎲  ריבועים מיוחדים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399" y="1920240"/>
            <a:ext cx="347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>
                <a:solidFill>
                  <a:srgbClr val="D0E4F7"/>
                </a:solidFill>
              </a:rPr>
              <a:t>✓  התחלה: 200k + קזינו רולטה (10 סוגי הימור)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כלא: 3 תורות, בריחה בתשלום או doubles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שדה תעופה: טלפורט ב-100k לנכס פנוי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אליפות עולמית: מכפיל שכירות (x2, x3...)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כרטיסי מזל: בונוסים ועונשים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1371600"/>
            <a:ext cx="3657600" cy="5212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371600"/>
            <a:ext cx="3657600" cy="5029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138988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 i="0">
                <a:solidFill>
                  <a:srgbClr val="F5C518"/>
                </a:solidFill>
              </a:rPr>
              <a:t>🤖  שחקנים וניצחון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1920240"/>
            <a:ext cx="347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>
                <a:solidFill>
                  <a:srgbClr val="D0E4F7"/>
                </a:solidFill>
              </a:rPr>
              <a:t>✓  אנושי: JOptionPane + GUI מלא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בוט: קנייה אוטומטית אם מחיר &lt; 40% מהכסף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ניצחון: 4 תחנות שאטל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ניצחון: 3 מונופולים צבעוניים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ניצחון: כל הנכסים בצלע אחת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612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 i="0">
                <a:solidFill>
                  <a:srgbClr val="FFFFFF"/>
                </a:solidFill>
              </a:rPr>
              <a:t>דיאגרמת UML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1">
                <a:solidFill>
                  <a:srgbClr val="F5C518"/>
                </a:solidFill>
              </a:rPr>
              <a:t>שקופית 4 — עיצוב מונחה עצמים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353312"/>
            <a:ext cx="2011680" cy="123444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353312"/>
            <a:ext cx="2011680" cy="365760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362456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5C518"/>
                </a:solidFill>
              </a:rPr>
              <a:t>«interface»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52704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Tile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719072"/>
            <a:ext cx="201168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764792"/>
            <a:ext cx="19202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+ getName(): String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landOn(Player)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353312"/>
            <a:ext cx="2743200" cy="150876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40" y="1353312"/>
            <a:ext cx="2743200" cy="36576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1362456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5C518"/>
                </a:solidFill>
              </a:rPr>
              <a:t>«abstract»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52704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Player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1719072"/>
            <a:ext cx="274320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51760" y="1764792"/>
            <a:ext cx="26517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+ takeTurn(Board, Dice)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pay(amount)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receive(amount)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move(steps)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clone(): Player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1353312"/>
            <a:ext cx="2286000" cy="114300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06440" y="1353312"/>
            <a:ext cx="2286000" cy="36576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6440" y="1362456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5C518"/>
                </a:solidFill>
              </a:rPr>
              <a:t>«abstract»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152704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EventCard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06440" y="1719072"/>
            <a:ext cx="228600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59" y="1764792"/>
            <a:ext cx="219456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+ apply(Player)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getDescription()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49640" y="1353312"/>
            <a:ext cx="3337560" cy="150876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49640" y="1353312"/>
            <a:ext cx="3337560" cy="301752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9640" y="1408176"/>
            <a:ext cx="3337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Game / GUIGame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49640" y="1655064"/>
            <a:ext cx="333756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1700784"/>
            <a:ext cx="3246120" cy="1133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+ start()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addPlayer() / removePlayer()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findPlayer(name)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sortByWealth()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clonePlayers()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" y="3337560"/>
            <a:ext cx="1920240" cy="137160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8600" y="3337560"/>
            <a:ext cx="1920240" cy="301752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8600" y="339242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PropertyTile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8600" y="3639312"/>
            <a:ext cx="192024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3685032"/>
            <a:ext cx="1828800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owner, level, price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landOn()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chargeRent()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offerUpgrade()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40280" y="3337560"/>
            <a:ext cx="1920240" cy="137160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40280" y="3337560"/>
            <a:ext cx="1920240" cy="301752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40280" y="339242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ShuttleStation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40280" y="3639312"/>
            <a:ext cx="192024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86000" y="3685032"/>
            <a:ext cx="1828800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owner, RENT[]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landOn()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getCurrentRent()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60520" y="3337560"/>
            <a:ext cx="1920240" cy="137160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60520" y="3337560"/>
            <a:ext cx="1920240" cy="301752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60520" y="339242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StartTile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60520" y="3639312"/>
            <a:ext cx="192024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0" y="3685032"/>
            <a:ext cx="1828800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+ landOn()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playRoulette()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89320" y="3337560"/>
            <a:ext cx="1920240" cy="137160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89320" y="3337560"/>
            <a:ext cx="1920240" cy="301752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89320" y="339242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JailTile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89320" y="3639312"/>
            <a:ext cx="192024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35040" y="3685032"/>
            <a:ext cx="1828800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+ landOn()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26679" y="3337560"/>
            <a:ext cx="1920240" cy="137160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26679" y="3337560"/>
            <a:ext cx="1920240" cy="301752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26679" y="339242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AirportTile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26679" y="3639312"/>
            <a:ext cx="192024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0" y="3685032"/>
            <a:ext cx="1828800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toll=100k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landOn()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55480" y="3337560"/>
            <a:ext cx="1920240" cy="137160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555480" y="3337560"/>
            <a:ext cx="1920240" cy="301752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555480" y="339242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WorldChamp.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55480" y="3639312"/>
            <a:ext cx="192024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01200" y="3685032"/>
            <a:ext cx="1828800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static multiplier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landOn()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606040" y="3337560"/>
            <a:ext cx="1691640" cy="105156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606040" y="3337560"/>
            <a:ext cx="1691640" cy="301752"/>
          </a:xfrm>
          <a:prstGeom prst="rect">
            <a:avLst/>
          </a:prstGeom>
          <a:solidFill>
            <a:srgbClr val="4A1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606040" y="3392424"/>
            <a:ext cx="1691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HumanPlayer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606040" y="3639312"/>
            <a:ext cx="169164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651760" y="3685032"/>
            <a:ext cx="1600200" cy="676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+ takeTurn()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trySellToP…()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120" y="3337560"/>
            <a:ext cx="1600200" cy="100584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89120" y="3337560"/>
            <a:ext cx="1600200" cy="301752"/>
          </a:xfrm>
          <a:prstGeom prst="rect">
            <a:avLst/>
          </a:prstGeom>
          <a:solidFill>
            <a:srgbClr val="4A1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89120" y="3392424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BotPlayer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89120" y="3639312"/>
            <a:ext cx="160020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434840" y="3685032"/>
            <a:ext cx="15087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+ takeTurn()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wantsToBuy()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989320" y="3337560"/>
            <a:ext cx="1554480" cy="91440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989320" y="3337560"/>
            <a:ext cx="1554480" cy="301752"/>
          </a:xfrm>
          <a:prstGeom prst="rect">
            <a:avLst/>
          </a:prstGeom>
          <a:solidFill>
            <a:srgbClr val="4A1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89320" y="33924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BonusCard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89320" y="3639312"/>
            <a:ext cx="155448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035040" y="3685032"/>
            <a:ext cx="1463039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amount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apply()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635240" y="3337560"/>
            <a:ext cx="1645920" cy="91440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635240" y="3337560"/>
            <a:ext cx="1645920" cy="301752"/>
          </a:xfrm>
          <a:prstGeom prst="rect">
            <a:avLst/>
          </a:prstGeom>
          <a:solidFill>
            <a:srgbClr val="4A1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635240" y="3392424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PenaltyCard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635240" y="3639312"/>
            <a:ext cx="164592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680960" y="3685032"/>
            <a:ext cx="155448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amount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apply()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606040" y="4800600"/>
            <a:ext cx="2560320" cy="804672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606040" y="4800600"/>
            <a:ext cx="2560320" cy="301752"/>
          </a:xfrm>
          <a:prstGeom prst="rect">
            <a:avLst/>
          </a:prstGeom>
          <a:solidFill>
            <a:srgbClr val="8B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606040" y="4855464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InsufficientFundsException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606040" y="5102352"/>
            <a:ext cx="256032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651760" y="5148072"/>
            <a:ext cx="2468879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extends Exception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349240" y="4800600"/>
            <a:ext cx="2651760" cy="804672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349240" y="4800600"/>
            <a:ext cx="2651760" cy="301752"/>
          </a:xfrm>
          <a:prstGeom prst="rect">
            <a:avLst/>
          </a:prstGeom>
          <a:solidFill>
            <a:srgbClr val="8B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349240" y="485546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InvalidPlayerCountException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349240" y="5102352"/>
            <a:ext cx="265176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394959" y="5148072"/>
            <a:ext cx="25603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extends Exception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8600" y="2926080"/>
            <a:ext cx="11247120" cy="201168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4320" y="2944368"/>
            <a:ext cx="11155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7AE60"/>
                </a:solidFill>
              </a:rPr>
              <a:t>PropertyTile, ShuttleStation, StartTile, JailTile, AirportTile, WorldChamp.   implements →  Tile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28600" y="3154680"/>
            <a:ext cx="11247120" cy="164592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4320" y="3163824"/>
            <a:ext cx="111556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55DD"/>
                </a:solidFill>
              </a:rPr>
              <a:t>HumanPlayer, BotPlayer   extends →  Player          |          BonusCard, PenaltyCard   extends →  EventCard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549640" y="3337560"/>
            <a:ext cx="3337560" cy="132588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549640" y="3337560"/>
            <a:ext cx="3337560" cy="301752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549640" y="3364992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Board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95360" y="3703320"/>
            <a:ext cx="3246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D0E4F7"/>
                </a:solidFill>
              </a:rPr>
              <a:t>  ArrayList&lt;Tile&gt;  (36 tiles)</a:t>
            </a:r>
          </a:p>
          <a:p>
            <a:pPr algn="l"/>
            <a:r>
              <a:rPr sz="1000">
                <a:solidFill>
                  <a:srgbClr val="D0E4F7"/>
                </a:solidFill>
              </a:rPr>
              <a:t>  getTile(position)</a:t>
            </a:r>
          </a:p>
          <a:p>
            <a:pPr algn="l"/>
            <a:r>
              <a:rPr sz="1000">
                <a:solidFill>
                  <a:srgbClr val="D0E4F7"/>
                </a:solidFill>
              </a:rPr>
              <a:t>  getSize()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28600" y="6144768"/>
            <a:ext cx="11750040" cy="530352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6181344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BAD"/>
                </a:solidFill>
              </a:rPr>
              <a:t>■ Interface (green)   ■ Abstract (purple)   ■ Concrete class (blue/green)   ■ Exception (red)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5760" y="6382512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A9BAD"/>
                </a:solidFill>
              </a:rPr>
              <a:t>Relationships shown as text labels above each row to avoid layout issues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