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1280160"/>
            <a:ext cx="3749039" cy="53035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University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Slide 1 — System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What is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7406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●  A Monopoly-style board game themed around university courses</a:t>
            </a:r>
          </a:p>
          <a:p>
            <a:r>
              <a:rPr sz="1700">
                <a:solidFill>
                  <a:srgbClr val="FFFFFF"/>
                </a:solidFill>
              </a:rPr>
              <a:t>●  2–4 players: Human or Bot</a:t>
            </a:r>
          </a:p>
          <a:p>
            <a:r>
              <a:rPr sz="1700">
                <a:solidFill>
                  <a:srgbClr val="FFFFFF"/>
                </a:solidFill>
              </a:rPr>
              <a:t>●  36-tile board with properties, stations &amp; special squares</a:t>
            </a:r>
          </a:p>
          <a:p>
            <a:r>
              <a:rPr sz="1700">
                <a:solidFill>
                  <a:srgbClr val="FFFFFF"/>
                </a:solidFill>
              </a:rPr>
              <a:t>●  Two versions: Console (JOptionPane) and full Swing 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60"/>
            <a:ext cx="7406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●  Buy &amp; upgrade properties (Land → 1-3 Houses → Hotel)</a:t>
            </a:r>
          </a:p>
          <a:p>
            <a:r>
              <a:rPr sz="1700">
                <a:solidFill>
                  <a:srgbClr val="FFFFFF"/>
                </a:solidFill>
              </a:rPr>
              <a:t>●  Casino Roulette mini-game on Start tile  (10 bet types, up to 35:1)</a:t>
            </a:r>
          </a:p>
          <a:p>
            <a:r>
              <a:rPr sz="1700">
                <a:solidFill>
                  <a:srgbClr val="FFFFFF"/>
                </a:solidFill>
              </a:rPr>
              <a:t>●  Airport teleport, Jail mechanic, World Championships multiplier</a:t>
            </a:r>
          </a:p>
          <a:p>
            <a:r>
              <a:rPr sz="1700">
                <a:solidFill>
                  <a:srgbClr val="FFFFFF"/>
                </a:solidFill>
              </a:rPr>
              <a:t>●  3 win conditions: 4 Stations | 3 Monopolies | Full board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</a:rPr>
              <a:t>UNIVERSITY
TOUR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0E4F7"/>
                </a:solidFill>
              </a:rPr>
              <a:t>A Monopoly-Style
Board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217920"/>
            <a:ext cx="155448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236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4F7"/>
                </a:solidFill>
              </a:rPr>
              <a:t>Tiles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6217920"/>
            <a:ext cx="155448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6236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4F7"/>
                </a:solidFill>
              </a:rPr>
              <a:t>Properties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6217920"/>
            <a:ext cx="155448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6236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4F7"/>
                </a:solidFill>
              </a:rPr>
              <a:t>Stations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6217920"/>
            <a:ext cx="155448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6236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4F7"/>
                </a:solidFill>
              </a:rPr>
              <a:t>Win Paths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Work Plan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Slide 2 — Milestones +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UML design &amp; class division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87752"/>
            <a:ext cx="4114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87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Base classes: Player, Tile, Board, Dice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55264"/>
            <a:ext cx="4114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2552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735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Core game loop: turns, payments, jail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22776"/>
            <a:ext cx="4114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227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4106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Special tiles: Airport, World Championships, Roulette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90288"/>
            <a:ext cx="4114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590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08575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Full Swing GUI + BoardPanel + SidebarPanel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4114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257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760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Testing, edge cases &amp; final polish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325880"/>
            <a:ext cx="36576" cy="5303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9202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0E4F7"/>
                </a:solidFill>
              </a:rPr>
              <a:t>⚠  Java only — standard libraries (javax.swing, java.util)</a:t>
            </a:r>
          </a:p>
          <a:p>
            <a:r>
              <a:rPr sz="1500">
                <a:solidFill>
                  <a:srgbClr val="D0E4F7"/>
                </a:solidFill>
              </a:rPr>
              <a:t>⚠  Must run on any JDK without external dependencies</a:t>
            </a:r>
          </a:p>
          <a:p>
            <a:r>
              <a:rPr sz="1500">
                <a:solidFill>
                  <a:srgbClr val="D0E4F7"/>
                </a:solidFill>
              </a:rPr>
              <a:t>⚠  Console &amp; GUI versions must share the same game logic</a:t>
            </a:r>
          </a:p>
          <a:p>
            <a:r>
              <a:rPr sz="1500">
                <a:solidFill>
                  <a:srgbClr val="D0E4F7"/>
                </a:solidFill>
              </a:rPr>
              <a:t>⚠  Edge cases: bankruptcy, jail fine, locked 3-Houses rule</a:t>
            </a:r>
          </a:p>
          <a:p>
            <a:r>
              <a:rPr sz="1500">
                <a:solidFill>
                  <a:srgbClr val="D0E4F7"/>
                </a:solidFill>
              </a:rPr>
              <a:t>⚠  Bot player must never block the human UI thread</a:t>
            </a:r>
          </a:p>
          <a:p>
            <a:r>
              <a:rPr sz="1500">
                <a:solidFill>
                  <a:srgbClr val="D0E4F7"/>
                </a:solidFill>
              </a:rPr>
              <a:t>⚠  Submission deadline: 10.7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Slide 3 — Features &amp; Game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657600" cy="5212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65760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89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🏠 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0E4F7"/>
                </a:solidFill>
              </a:rPr>
              <a:t>✓  24 properties in 8 colour groups</a:t>
            </a:r>
          </a:p>
          <a:p>
            <a:r>
              <a:rPr sz="1400">
                <a:solidFill>
                  <a:srgbClr val="D0E4F7"/>
                </a:solidFill>
              </a:rPr>
              <a:t>✓  Buy at Land / 1–3 Houses / Hotel</a:t>
            </a:r>
          </a:p>
          <a:p>
            <a:r>
              <a:rPr sz="1400">
                <a:solidFill>
                  <a:srgbClr val="D0E4F7"/>
                </a:solidFill>
              </a:rPr>
              <a:t>✓  Rent scales 1× → 3× → 6× → 10× → 16×</a:t>
            </a:r>
          </a:p>
          <a:p>
            <a:r>
              <a:rPr sz="1400">
                <a:solidFill>
                  <a:srgbClr val="D0E4F7"/>
                </a:solidFill>
              </a:rPr>
              <a:t>✓  Sell at 75% value in emergencies</a:t>
            </a:r>
          </a:p>
          <a:p>
            <a:r>
              <a:rPr sz="1400">
                <a:solidFill>
                  <a:srgbClr val="D0E4F7"/>
                </a:solidFill>
              </a:rPr>
              <a:t>✓  3 Houses locked until lap 1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657600" cy="5212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65760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389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🎲  Special Tiles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0E4F7"/>
                </a:solidFill>
              </a:rPr>
              <a:t>✓  Start: collect ₪200k + Roulette casino</a:t>
            </a:r>
          </a:p>
          <a:p>
            <a:r>
              <a:rPr sz="1400">
                <a:solidFill>
                  <a:srgbClr val="D0E4F7"/>
                </a:solidFill>
              </a:rPr>
              <a:t>✓  Jail: 3-turn lock, escape by fine or doubles</a:t>
            </a:r>
          </a:p>
          <a:p>
            <a:r>
              <a:rPr sz="1400">
                <a:solidFill>
                  <a:srgbClr val="D0E4F7"/>
                </a:solidFill>
              </a:rPr>
              <a:t>✓  Airport: ₪100k teleport to any free property</a:t>
            </a:r>
          </a:p>
          <a:p>
            <a:r>
              <a:rPr sz="1400">
                <a:solidFill>
                  <a:srgbClr val="D0E4F7"/>
                </a:solidFill>
              </a:rPr>
              <a:t>✓  World Champ.: global rent multiplier (×2, ×3…)</a:t>
            </a:r>
          </a:p>
          <a:p>
            <a:r>
              <a:rPr sz="1400">
                <a:solidFill>
                  <a:srgbClr val="D0E4F7"/>
                </a:solidFill>
              </a:rPr>
              <a:t>✓  Chance: bonus &amp; penalty event 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3657600" cy="5212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365760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389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🤖  Players &amp; 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0E4F7"/>
                </a:solidFill>
              </a:rPr>
              <a:t>✓  Human: full JOptionPane / GUI interaction</a:t>
            </a:r>
          </a:p>
          <a:p>
            <a:r>
              <a:rPr sz="1400">
                <a:solidFill>
                  <a:srgbClr val="D0E4F7"/>
                </a:solidFill>
              </a:rPr>
              <a:t>✓  Bot: auto-buys if price &lt; 40% of cash</a:t>
            </a:r>
          </a:p>
          <a:p>
            <a:r>
              <a:rPr sz="1400">
                <a:solidFill>
                  <a:srgbClr val="D0E4F7"/>
                </a:solidFill>
              </a:rPr>
              <a:t>✓  Win: own all 4 Shuttle Stations</a:t>
            </a:r>
          </a:p>
          <a:p>
            <a:r>
              <a:rPr sz="1400">
                <a:solidFill>
                  <a:srgbClr val="D0E4F7"/>
                </a:solidFill>
              </a:rPr>
              <a:t>✓  Win: own 3 complete colour monopolies</a:t>
            </a:r>
          </a:p>
          <a:p>
            <a:r>
              <a:rPr sz="1400">
                <a:solidFill>
                  <a:srgbClr val="D0E4F7"/>
                </a:solidFill>
              </a:rPr>
              <a:t>✓  Win: own all properties on one board side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UML —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Slide 4 — Object-Oriented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920240" cy="11887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920240" cy="34747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807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5C518"/>
                </a:solidFill>
              </a:rPr>
              <a:t>«interface»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361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19072"/>
            <a:ext cx="192024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783080"/>
            <a:ext cx="17739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getName(): String</a:t>
            </a:r>
          </a:p>
          <a:p>
            <a:r>
              <a:rPr sz="900">
                <a:solidFill>
                  <a:srgbClr val="D0E4F7"/>
                </a:solidFill>
              </a:rPr>
              <a:t>+ landOn(Player)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71600"/>
            <a:ext cx="2560320" cy="1463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371600"/>
            <a:ext cx="2560320" cy="34747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3807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5C518"/>
                </a:solidFill>
              </a:rPr>
              <a:t>«abstract»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5361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719072"/>
            <a:ext cx="256032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783080"/>
            <a:ext cx="2414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takeTurn(Board, Dice)</a:t>
            </a:r>
          </a:p>
          <a:p>
            <a:r>
              <a:rPr sz="900">
                <a:solidFill>
                  <a:srgbClr val="D0E4F7"/>
                </a:solidFill>
              </a:rPr>
              <a:t>+ pay(amount)</a:t>
            </a:r>
          </a:p>
          <a:p>
            <a:r>
              <a:rPr sz="900">
                <a:solidFill>
                  <a:srgbClr val="D0E4F7"/>
                </a:solidFill>
              </a:rPr>
              <a:t>+ receive(amount)</a:t>
            </a:r>
          </a:p>
          <a:p>
            <a:r>
              <a:rPr sz="900">
                <a:solidFill>
                  <a:srgbClr val="D0E4F7"/>
                </a:solidFill>
              </a:rPr>
              <a:t>+ move(steps)</a:t>
            </a:r>
          </a:p>
          <a:p>
            <a:r>
              <a:rPr sz="900">
                <a:solidFill>
                  <a:srgbClr val="D0E4F7"/>
                </a:solidFill>
              </a:rPr>
              <a:t>+ clone(): Player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2286000" cy="11887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2286000" cy="34747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807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5C518"/>
                </a:solidFill>
              </a:rPr>
              <a:t>«abstract»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361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EventCard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719072"/>
            <a:ext cx="228600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783080"/>
            <a:ext cx="21396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apply(Player)</a:t>
            </a:r>
          </a:p>
          <a:p>
            <a:r>
              <a:rPr sz="900">
                <a:solidFill>
                  <a:srgbClr val="D0E4F7"/>
                </a:solidFill>
              </a:rPr>
              <a:t>+ getDescription()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371600"/>
            <a:ext cx="2560320" cy="14173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1371600"/>
            <a:ext cx="2560320" cy="2926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4264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Game / GUIGame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664208"/>
            <a:ext cx="256032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1783080"/>
            <a:ext cx="2414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start()</a:t>
            </a:r>
          </a:p>
          <a:p>
            <a:r>
              <a:rPr sz="900">
                <a:solidFill>
                  <a:srgbClr val="D0E4F7"/>
                </a:solidFill>
              </a:rPr>
              <a:t>+ addPlayer()</a:t>
            </a:r>
          </a:p>
          <a:p>
            <a:r>
              <a:rPr sz="900">
                <a:solidFill>
                  <a:srgbClr val="D0E4F7"/>
                </a:solidFill>
              </a:rPr>
              <a:t>+ removePlayer()</a:t>
            </a:r>
          </a:p>
          <a:p>
            <a:r>
              <a:rPr sz="900">
                <a:solidFill>
                  <a:srgbClr val="D0E4F7"/>
                </a:solidFill>
              </a:rPr>
              <a:t>+ findPlayer()</a:t>
            </a:r>
          </a:p>
          <a:p>
            <a:r>
              <a:rPr sz="900">
                <a:solidFill>
                  <a:srgbClr val="D0E4F7"/>
                </a:solidFill>
              </a:rPr>
              <a:t>+ sortByWealth()</a:t>
            </a:r>
          </a:p>
          <a:p>
            <a:r>
              <a:rPr sz="900">
                <a:solidFill>
                  <a:srgbClr val="D0E4F7"/>
                </a:solidFill>
              </a:rPr>
              <a:t>+ clonePlayers()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03320"/>
            <a:ext cx="1920240" cy="13258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703320"/>
            <a:ext cx="1920240" cy="2926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758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PropertyTile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95928"/>
            <a:ext cx="192024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4114800"/>
            <a:ext cx="1773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owner, level, price</a:t>
            </a:r>
          </a:p>
          <a:p>
            <a:r>
              <a:rPr sz="900">
                <a:solidFill>
                  <a:srgbClr val="D0E4F7"/>
                </a:solidFill>
              </a:rPr>
              <a:t>+ landOn()</a:t>
            </a:r>
          </a:p>
          <a:p>
            <a:r>
              <a:rPr sz="900">
                <a:solidFill>
                  <a:srgbClr val="D0E4F7"/>
                </a:solidFill>
              </a:rPr>
              <a:t>+ chargeRent()</a:t>
            </a:r>
          </a:p>
          <a:p>
            <a:r>
              <a:rPr sz="900">
                <a:solidFill>
                  <a:srgbClr val="D0E4F7"/>
                </a:solidFill>
              </a:rPr>
              <a:t>+ offerUpgrade()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3703320"/>
            <a:ext cx="1920240" cy="13258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31720" y="3703320"/>
            <a:ext cx="1920240" cy="2926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31720" y="3758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ShuttleStation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3995928"/>
            <a:ext cx="192024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04872" y="4114800"/>
            <a:ext cx="1773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owner, RENT[]</a:t>
            </a:r>
          </a:p>
          <a:p>
            <a:r>
              <a:rPr sz="900">
                <a:solidFill>
                  <a:srgbClr val="D0E4F7"/>
                </a:solidFill>
              </a:rPr>
              <a:t>+ landOn()</a:t>
            </a:r>
          </a:p>
          <a:p>
            <a:r>
              <a:rPr sz="900">
                <a:solidFill>
                  <a:srgbClr val="D0E4F7"/>
                </a:solidFill>
              </a:rPr>
              <a:t>+ getCurrentRent()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703320"/>
            <a:ext cx="1920240" cy="13258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703320"/>
            <a:ext cx="1920240" cy="2926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3758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StartTile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995928"/>
            <a:ext cx="192024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4114800"/>
            <a:ext cx="1773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landOn()</a:t>
            </a:r>
          </a:p>
          <a:p>
            <a:r>
              <a:rPr sz="900">
                <a:solidFill>
                  <a:srgbClr val="D0E4F7"/>
                </a:solidFill>
              </a:rPr>
              <a:t>+ playRoulette()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703320"/>
            <a:ext cx="1920240" cy="13258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3703320"/>
            <a:ext cx="1920240" cy="2926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758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JailTile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995928"/>
            <a:ext cx="192024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4114800"/>
            <a:ext cx="1773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landOn()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3703320"/>
            <a:ext cx="1920240" cy="13258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2440" y="3703320"/>
            <a:ext cx="1920240" cy="2926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3758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AirportTile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2440" y="3995928"/>
            <a:ext cx="192024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5592" y="4114800"/>
            <a:ext cx="1773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landOn()</a:t>
            </a:r>
          </a:p>
          <a:p>
            <a:r>
              <a:rPr sz="900">
                <a:solidFill>
                  <a:srgbClr val="D0E4F7"/>
                </a:solidFill>
              </a:rPr>
              <a:t>teleport logic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21240" y="3703320"/>
            <a:ext cx="1920240" cy="13258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21240" y="3703320"/>
            <a:ext cx="1920240" cy="2926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21240" y="3758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WorldChamp.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21240" y="3995928"/>
            <a:ext cx="192024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94392" y="4114800"/>
            <a:ext cx="17739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multiplier</a:t>
            </a:r>
          </a:p>
          <a:p>
            <a:r>
              <a:rPr sz="900">
                <a:solidFill>
                  <a:srgbClr val="D0E4F7"/>
                </a:solidFill>
              </a:rPr>
              <a:t>+ landOn()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40" y="3703320"/>
            <a:ext cx="1645920" cy="10058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34640" y="3703320"/>
            <a:ext cx="1645920" cy="292608"/>
          </a:xfrm>
          <a:prstGeom prst="rect">
            <a:avLst/>
          </a:prstGeom>
          <a:solidFill>
            <a:srgbClr val="4A1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34640" y="375818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HumanPlayer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3995928"/>
            <a:ext cx="164592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7792" y="4114800"/>
            <a:ext cx="1499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takeTurn()</a:t>
            </a:r>
          </a:p>
          <a:p>
            <a:r>
              <a:rPr sz="900">
                <a:solidFill>
                  <a:srgbClr val="D0E4F7"/>
                </a:solidFill>
              </a:rPr>
              <a:t>+ trySell…()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3703320"/>
            <a:ext cx="1645920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17720" y="3703320"/>
            <a:ext cx="1645920" cy="292608"/>
          </a:xfrm>
          <a:prstGeom prst="rect">
            <a:avLst/>
          </a:prstGeom>
          <a:solidFill>
            <a:srgbClr val="4A1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17720" y="375818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BotPlayer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3995928"/>
            <a:ext cx="164592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90872" y="4114800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+ takeTurn()</a:t>
            </a:r>
          </a:p>
          <a:p>
            <a:r>
              <a:rPr sz="900">
                <a:solidFill>
                  <a:srgbClr val="D0E4F7"/>
                </a:solidFill>
              </a:rPr>
              <a:t>+ wantsToBuy()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7960" y="3703320"/>
            <a:ext cx="1371600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37960" y="3703320"/>
            <a:ext cx="1371600" cy="292608"/>
          </a:xfrm>
          <a:prstGeom prst="rect">
            <a:avLst/>
          </a:prstGeom>
          <a:solidFill>
            <a:srgbClr val="4A1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375818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BonusCard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60" y="3995928"/>
            <a:ext cx="137160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11112" y="4114800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amount</a:t>
            </a:r>
          </a:p>
          <a:p>
            <a:r>
              <a:rPr sz="900">
                <a:solidFill>
                  <a:srgbClr val="D0E4F7"/>
                </a:solidFill>
              </a:rPr>
              <a:t>+ apply()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3703320"/>
            <a:ext cx="1371600" cy="9144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46720" y="3703320"/>
            <a:ext cx="1371600" cy="292608"/>
          </a:xfrm>
          <a:prstGeom prst="rect">
            <a:avLst/>
          </a:prstGeom>
          <a:solidFill>
            <a:srgbClr val="4A1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46720" y="375818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PenaltyCard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46720" y="3995928"/>
            <a:ext cx="137160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19872" y="4114800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amount</a:t>
            </a:r>
          </a:p>
          <a:p>
            <a:r>
              <a:rPr sz="900">
                <a:solidFill>
                  <a:srgbClr val="D0E4F7"/>
                </a:solidFill>
              </a:rPr>
              <a:t>+ apply()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4640" y="5029200"/>
            <a:ext cx="2286000" cy="8229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834640" y="5029200"/>
            <a:ext cx="2286000" cy="292608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InsufficientFundsException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834640" y="5321808"/>
            <a:ext cx="228600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07792" y="5440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extends Exception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57800" y="5029200"/>
            <a:ext cx="2286000" cy="82296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257800" y="5029200"/>
            <a:ext cx="2286000" cy="292608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5780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InvalidPlayerCountException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57800" y="5321808"/>
            <a:ext cx="2286000" cy="1828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30952" y="5440680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D0E4F7"/>
                </a:solidFill>
              </a:rPr>
              <a:t>extends Exception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1234440" y="2560320"/>
            <a:ext cx="0" cy="1143000"/>
          </a:xfrm>
          <a:prstGeom prst="line">
            <a:avLst/>
          </a:prstGeom>
          <a:ln w="1524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68680" y="29946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518"/>
                </a:solidFill>
              </a:rPr>
              <a:t>impl</a:t>
            </a:r>
          </a:p>
        </p:txBody>
      </p:sp>
      <p:cxnSp>
        <p:nvCxnSpPr>
          <p:cNvPr id="91" name="Connector 90"/>
          <p:cNvCxnSpPr/>
          <p:nvPr/>
        </p:nvCxnSpPr>
        <p:spPr>
          <a:xfrm flipH="1" flipV="1">
            <a:off x="1234440" y="2560320"/>
            <a:ext cx="2057399" cy="1143000"/>
          </a:xfrm>
          <a:prstGeom prst="line">
            <a:avLst/>
          </a:prstGeom>
          <a:ln w="1524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1234440" y="2560320"/>
            <a:ext cx="4069080" cy="1143000"/>
          </a:xfrm>
          <a:prstGeom prst="line">
            <a:avLst/>
          </a:prstGeom>
          <a:ln w="1524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1234440" y="2560320"/>
            <a:ext cx="5989319" cy="1143000"/>
          </a:xfrm>
          <a:prstGeom prst="line">
            <a:avLst/>
          </a:prstGeom>
          <a:ln w="1524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1234440" y="2560320"/>
            <a:ext cx="7818120" cy="1143000"/>
          </a:xfrm>
          <a:prstGeom prst="line">
            <a:avLst/>
          </a:prstGeom>
          <a:ln w="1524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1234440" y="2560320"/>
            <a:ext cx="9646920" cy="1143000"/>
          </a:xfrm>
          <a:prstGeom prst="line">
            <a:avLst/>
          </a:prstGeom>
          <a:ln w="1524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657600" y="2834640"/>
            <a:ext cx="457200" cy="868680"/>
          </a:xfrm>
          <a:prstGeom prst="line">
            <a:avLst/>
          </a:prstGeom>
          <a:ln w="15240">
            <a:solidFill>
              <a:srgbClr val="AA5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3520440" y="31318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518"/>
                </a:solidFill>
              </a:rPr>
              <a:t>extends</a:t>
            </a:r>
          </a:p>
        </p:txBody>
      </p:sp>
      <p:cxnSp>
        <p:nvCxnSpPr>
          <p:cNvPr id="98" name="Connector 97"/>
          <p:cNvCxnSpPr/>
          <p:nvPr/>
        </p:nvCxnSpPr>
        <p:spPr>
          <a:xfrm flipH="1" flipV="1">
            <a:off x="4572000" y="2834640"/>
            <a:ext cx="868680" cy="868680"/>
          </a:xfrm>
          <a:prstGeom prst="line">
            <a:avLst/>
          </a:prstGeom>
          <a:ln w="15240">
            <a:solidFill>
              <a:srgbClr val="AA5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223760" y="2560320"/>
            <a:ext cx="320040" cy="1143000"/>
          </a:xfrm>
          <a:prstGeom prst="line">
            <a:avLst/>
          </a:prstGeom>
          <a:ln w="15240">
            <a:solidFill>
              <a:srgbClr val="AA5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8001000" y="2560320"/>
            <a:ext cx="731520" cy="1143000"/>
          </a:xfrm>
          <a:prstGeom prst="line">
            <a:avLst/>
          </a:prstGeom>
          <a:ln w="15240">
            <a:solidFill>
              <a:srgbClr val="AA5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274320" y="6172200"/>
            <a:ext cx="11612880" cy="50292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D"/>
                </a:solidFill>
              </a:rPr>
              <a:t>■ Interface (green)    ■ Abstract (purple)    ■ Concrete (blue)    ■ Exception (red)    → implements    → extends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