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200" b="1" i="0">
                <a:solidFill>
                  <a:srgbClr val="FFFFFF"/>
                </a:solidFill>
              </a:rPr>
              <a:t>סיור באוניברסיטה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0" i="1">
                <a:solidFill>
                  <a:srgbClr val="F5C518"/>
                </a:solidFill>
              </a:rPr>
              <a:t>שקופית 1 — תיאור המערכת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25880"/>
            <a:ext cx="3657600" cy="530352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0" y="141732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 i="0">
                <a:solidFill>
                  <a:srgbClr val="F5C518"/>
                </a:solidFill>
              </a:rPr>
              <a:t>מה זה?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874519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>
                <a:solidFill>
                  <a:srgbClr val="FFFFFF"/>
                </a:solidFill>
              </a:rPr>
              <a:t>● משחק לוח בסגנון מונופולי בנושא קורסי אוניברסיטה</a:t>
            </a:r>
          </a:p>
          <a:p>
            <a:pPr algn="r"/>
            <a:r>
              <a:rPr sz="1700">
                <a:solidFill>
                  <a:srgbClr val="FFFFFF"/>
                </a:solidFill>
              </a:rPr>
              <a:t>● 2–4 שחקנים: אנושיים או בוטים</a:t>
            </a:r>
          </a:p>
          <a:p>
            <a:pPr algn="r"/>
            <a:r>
              <a:rPr sz="1700">
                <a:solidFill>
                  <a:srgbClr val="FFFFFF"/>
                </a:solidFill>
              </a:rPr>
              <a:t>● לוח של 36 ריבועים: נכסים, תחנות וריבועים מיוחדים</a:t>
            </a:r>
          </a:p>
          <a:p>
            <a:pPr algn="r"/>
            <a:r>
              <a:rPr sz="1700">
                <a:solidFill>
                  <a:srgbClr val="FFFFFF"/>
                </a:solidFill>
              </a:rPr>
              <a:t>● שתי גרסאות: קונסול (JOptionPane) וממשק גרפי מלא (Swing GUI)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379476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 i="0">
                <a:solidFill>
                  <a:srgbClr val="F5C518"/>
                </a:solidFill>
              </a:rPr>
              <a:t>תכונות עיקריות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4251960"/>
            <a:ext cx="7772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>
                <a:solidFill>
                  <a:srgbClr val="FFFFFF"/>
                </a:solidFill>
              </a:rPr>
              <a:t>● קנייה ושדרוג נכסים: קרקע ← בית 1 ← בית 2 ← בית 3 ← מלון</a:t>
            </a:r>
          </a:p>
          <a:p>
            <a:pPr algn="r"/>
            <a:r>
              <a:rPr sz="1700">
                <a:solidFill>
                  <a:srgbClr val="FFFFFF"/>
                </a:solidFill>
              </a:rPr>
              <a:t>● מיני-גיים רולטה בריבוע התחלה — 10 סוגי הימור, עד 35:1</a:t>
            </a:r>
          </a:p>
          <a:p>
            <a:pPr algn="r"/>
            <a:r>
              <a:rPr sz="1700">
                <a:solidFill>
                  <a:srgbClr val="FFFFFF"/>
                </a:solidFill>
              </a:rPr>
              <a:t>● שדה תעופה (טלפורט), כלא, מכפיל אליפות עולמית</a:t>
            </a:r>
          </a:p>
          <a:p>
            <a:pPr algn="r"/>
            <a:r>
              <a:rPr sz="1700">
                <a:solidFill>
                  <a:srgbClr val="FFFFFF"/>
                </a:solidFill>
              </a:rPr>
              <a:t>● 3 תנאי ניצחון: 4 תחנות | 3 מונופולים | שורה מלאה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64592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0" i="0">
                <a:solidFill>
                  <a:srgbClr val="FFFFFF"/>
                </a:solidFill>
              </a:rPr>
              <a:t>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92608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5C518"/>
                </a:solidFill>
              </a:rPr>
              <a:t>סיור
באוניברסיטה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2519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D0E4F7"/>
                </a:solidFill>
              </a:rPr>
              <a:t>משחק לוח בסגנון מונופולי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6217920"/>
            <a:ext cx="2560320" cy="502920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23620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C518"/>
                </a:solidFill>
              </a:rPr>
              <a:t>36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0E4F7"/>
                </a:solidFill>
              </a:rPr>
              <a:t>ריבועים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6217920"/>
            <a:ext cx="2560320" cy="502920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0" y="623620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C518"/>
                </a:solidFill>
              </a:rPr>
              <a:t>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649224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0E4F7"/>
                </a:solidFill>
              </a:rPr>
              <a:t>נכסים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6217920"/>
            <a:ext cx="2560320" cy="502920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0" y="623620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C518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49224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0E4F7"/>
                </a:solidFill>
              </a:rPr>
              <a:t>תחנות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69680" y="6217920"/>
            <a:ext cx="2560320" cy="502920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0" y="623620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C518"/>
                </a:solidFill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649224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0E4F7"/>
                </a:solidFill>
              </a:rPr>
              <a:t>ניצחון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200" b="1" i="0">
                <a:solidFill>
                  <a:srgbClr val="FFFFFF"/>
                </a:solidFill>
              </a:rPr>
              <a:t>תכנית עבודה ואילוצים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0" i="1">
                <a:solidFill>
                  <a:srgbClr val="F5C518"/>
                </a:solidFill>
              </a:rPr>
              <a:t>שקופית 2 — Milestones + אילוצים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417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 i="0">
                <a:solidFill>
                  <a:srgbClr val="F5C518"/>
                </a:solidFill>
              </a:rPr>
              <a:t>אבני דרך</a:t>
            </a:r>
          </a:p>
        </p:txBody>
      </p:sp>
      <p:sp>
        <p:nvSpPr>
          <p:cNvPr id="7" name="Rectangle 6"/>
          <p:cNvSpPr/>
          <p:nvPr/>
        </p:nvSpPr>
        <p:spPr>
          <a:xfrm>
            <a:off x="8595360" y="1920240"/>
            <a:ext cx="384048" cy="384048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0" y="192024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C518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938528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FFFFFF"/>
                </a:solidFill>
              </a:rPr>
              <a:t>תכנון UML וחלוקת מחלקות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95360" y="2587752"/>
            <a:ext cx="384048" cy="384048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0" y="258775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C518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606040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FFFFFF"/>
                </a:solidFill>
              </a:rPr>
              <a:t>מחלקות בסיס: Player, Tile, Board, Dice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95360" y="3255264"/>
            <a:ext cx="384048" cy="384048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0" y="325526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C518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273552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FFFFFF"/>
                </a:solidFill>
              </a:rPr>
              <a:t>לולאת משחק: תורות, תשלומים, כלא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95360" y="3922776"/>
            <a:ext cx="384048" cy="384048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392277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C518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941063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FFFFFF"/>
                </a:solidFill>
              </a:rPr>
              <a:t>טיילים מיוחדים: Airport, WorldChampionships, Roulette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5360" y="4590288"/>
            <a:ext cx="384048" cy="384048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0" y="4590288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C518"/>
                </a:solidFill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608575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FFFFFF"/>
                </a:solidFill>
              </a:rPr>
              <a:t>GUI מלא: BoardPanel, SidebarPanel, דיאלוגים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5360" y="5257800"/>
            <a:ext cx="384048" cy="384048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0" y="525780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C518"/>
                </a:solidFill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5276088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FFFFFF"/>
                </a:solidFill>
              </a:rPr>
              <a:t>בדיקות, מקרי קצה ועדכון סופי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1325880"/>
            <a:ext cx="36576" cy="53035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1417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 i="0">
                <a:solidFill>
                  <a:srgbClr val="F5C518"/>
                </a:solidFill>
              </a:rPr>
              <a:t>אילוצים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192024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>
                <a:solidFill>
                  <a:srgbClr val="D0E4F7"/>
                </a:solidFill>
              </a:rPr>
              <a:t>⚠  Java בלבד — ספריות סטנדרטיות (javax.swing, java.util)</a:t>
            </a:r>
          </a:p>
          <a:p>
            <a:pPr algn="r"/>
            <a:r>
              <a:rPr sz="1500">
                <a:solidFill>
                  <a:srgbClr val="D0E4F7"/>
                </a:solidFill>
              </a:rPr>
              <a:t>⚠  ללא תלויות חיצוניות — רץ על כל JDK</a:t>
            </a:r>
          </a:p>
          <a:p>
            <a:pPr algn="r"/>
            <a:r>
              <a:rPr sz="1500">
                <a:solidFill>
                  <a:srgbClr val="D0E4F7"/>
                </a:solidFill>
              </a:rPr>
              <a:t>⚠  גרסת קונסול וגרסת GUI חולקות אותה לוגיקת משחק</a:t>
            </a:r>
          </a:p>
          <a:p>
            <a:pPr algn="r"/>
            <a:r>
              <a:rPr sz="1500">
                <a:solidFill>
                  <a:srgbClr val="D0E4F7"/>
                </a:solidFill>
              </a:rPr>
              <a:t>⚠  מקרי קצה: פשיטת רגל, קנס כלא, נעילת בית 3</a:t>
            </a:r>
          </a:p>
          <a:p>
            <a:pPr algn="r"/>
            <a:r>
              <a:rPr sz="1500">
                <a:solidFill>
                  <a:srgbClr val="D0E4F7"/>
                </a:solidFill>
              </a:rPr>
              <a:t>⚠  הבוט לא חוסם את ה-UI thread של השחקן האנושי</a:t>
            </a:r>
          </a:p>
          <a:p>
            <a:pPr algn="r"/>
            <a:r>
              <a:rPr sz="1500">
                <a:solidFill>
                  <a:srgbClr val="D0E4F7"/>
                </a:solidFill>
              </a:rPr>
              <a:t>⚠  מועד הגשה: 10.7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200" b="1" i="0">
                <a:solidFill>
                  <a:srgbClr val="FFFFFF"/>
                </a:solidFill>
              </a:rPr>
              <a:t>פונקציונליות הפרויקט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0" i="1">
                <a:solidFill>
                  <a:srgbClr val="F5C518"/>
                </a:solidFill>
              </a:rPr>
              <a:t>שקופית 3 — תכונות וזרימת משחק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371600"/>
            <a:ext cx="3657600" cy="521208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3657600" cy="502920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38988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F5C518"/>
                </a:solidFill>
              </a:rPr>
              <a:t>🏠  נכסים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1920240"/>
            <a:ext cx="3474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>
                <a:solidFill>
                  <a:srgbClr val="D0E4F7"/>
                </a:solidFill>
              </a:rPr>
              <a:t>✓  24 נכסים ב-8 קבוצות צבע</a:t>
            </a:r>
          </a:p>
          <a:p>
            <a:pPr algn="r"/>
            <a:r>
              <a:rPr sz="1400">
                <a:solidFill>
                  <a:srgbClr val="D0E4F7"/>
                </a:solidFill>
              </a:rPr>
              <a:t>✓  קנייה ב-4 רמות: קרקע / 1-3 בתים / מלון</a:t>
            </a:r>
          </a:p>
          <a:p>
            <a:pPr algn="r"/>
            <a:r>
              <a:rPr sz="1400">
                <a:solidFill>
                  <a:srgbClr val="D0E4F7"/>
                </a:solidFill>
              </a:rPr>
              <a:t>✓  שכירות: ×1 ← ×3 ← ×6 ← ×10 ← ×16</a:t>
            </a:r>
          </a:p>
          <a:p>
            <a:pPr algn="r"/>
            <a:r>
              <a:rPr sz="1400">
                <a:solidFill>
                  <a:srgbClr val="D0E4F7"/>
                </a:solidFill>
              </a:rPr>
              <a:t>✓  מכירה ב-75% מערך הרכישה</a:t>
            </a:r>
          </a:p>
          <a:p>
            <a:pPr algn="r"/>
            <a:r>
              <a:rPr sz="1400">
                <a:solidFill>
                  <a:srgbClr val="D0E4F7"/>
                </a:solidFill>
              </a:rPr>
              <a:t>✓  בית 3 נעול עד השלמת סיבוב ראשון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59" y="1371600"/>
            <a:ext cx="3657600" cy="521208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59" y="1371600"/>
            <a:ext cx="3657600" cy="502920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399" y="138988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F5C518"/>
                </a:solidFill>
              </a:rPr>
              <a:t>🎲  ריבועים מיוחדים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399" y="1920240"/>
            <a:ext cx="3474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>
                <a:solidFill>
                  <a:srgbClr val="D0E4F7"/>
                </a:solidFill>
              </a:rPr>
              <a:t>✓  התחלה: ₪200k + קזינו רולטה</a:t>
            </a:r>
          </a:p>
          <a:p>
            <a:pPr algn="r"/>
            <a:r>
              <a:rPr sz="1400">
                <a:solidFill>
                  <a:srgbClr val="D0E4F7"/>
                </a:solidFill>
              </a:rPr>
              <a:t>✓  כלא: 3 תורות, בריחה בתשלום או doubles</a:t>
            </a:r>
          </a:p>
          <a:p>
            <a:pPr algn="r"/>
            <a:r>
              <a:rPr sz="1400">
                <a:solidFill>
                  <a:srgbClr val="D0E4F7"/>
                </a:solidFill>
              </a:rPr>
              <a:t>✓  שדה תעופה: טלפורט ב-₪100k לנכס פנוי</a:t>
            </a:r>
          </a:p>
          <a:p>
            <a:pPr algn="r"/>
            <a:r>
              <a:rPr sz="1400">
                <a:solidFill>
                  <a:srgbClr val="D0E4F7"/>
                </a:solidFill>
              </a:rPr>
              <a:t>✓  אליפות עולמית: מכפיל שכירות גלובלי (×2, ×3...)</a:t>
            </a:r>
          </a:p>
          <a:p>
            <a:pPr algn="r"/>
            <a:r>
              <a:rPr sz="1400">
                <a:solidFill>
                  <a:srgbClr val="D0E4F7"/>
                </a:solidFill>
              </a:rPr>
              <a:t>✓  כרטיסי מזל: בונוסים ועונשים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3879" y="1371600"/>
            <a:ext cx="3657600" cy="521208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79" y="1371600"/>
            <a:ext cx="3657600" cy="502920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19" y="138988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F5C518"/>
                </a:solidFill>
              </a:rPr>
              <a:t>🤖  שחקנים וניצחון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1920240"/>
            <a:ext cx="3474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>
                <a:solidFill>
                  <a:srgbClr val="D0E4F7"/>
                </a:solidFill>
              </a:rPr>
              <a:t>✓  אנושי: אינטראקציה מלאה — JOptionPane / GUI</a:t>
            </a:r>
          </a:p>
          <a:p>
            <a:pPr algn="r"/>
            <a:r>
              <a:rPr sz="1400">
                <a:solidFill>
                  <a:srgbClr val="D0E4F7"/>
                </a:solidFill>
              </a:rPr>
              <a:t>✓  בוט: קונה אוטומטי אם מחיר &lt; 40% מהכסף</a:t>
            </a:r>
          </a:p>
          <a:p>
            <a:pPr algn="r"/>
            <a:r>
              <a:rPr sz="1400">
                <a:solidFill>
                  <a:srgbClr val="D0E4F7"/>
                </a:solidFill>
              </a:rPr>
              <a:t>✓  ניצחון: 4 תחנות שאטל</a:t>
            </a:r>
          </a:p>
          <a:p>
            <a:pPr algn="r"/>
            <a:r>
              <a:rPr sz="1400">
                <a:solidFill>
                  <a:srgbClr val="D0E4F7"/>
                </a:solidFill>
              </a:rPr>
              <a:t>✓  ניצחון: 3 מונופולים צבעוניים מלאים</a:t>
            </a:r>
          </a:p>
          <a:p>
            <a:pPr algn="r"/>
            <a:r>
              <a:rPr sz="1400">
                <a:solidFill>
                  <a:srgbClr val="D0E4F7"/>
                </a:solidFill>
              </a:rPr>
              <a:t>✓  ניצחון: כל הנכסים בצלע אחת של הלוח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200" b="1" i="0">
                <a:solidFill>
                  <a:srgbClr val="FFFFFF"/>
                </a:solidFill>
              </a:rPr>
              <a:t>דיאגרמת UML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0" i="1">
                <a:solidFill>
                  <a:srgbClr val="F5C518"/>
                </a:solidFill>
              </a:rPr>
              <a:t>שקופית 4 — עיצוב מונחה עצמים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1920240" cy="118872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371600"/>
            <a:ext cx="1920240" cy="347472"/>
          </a:xfrm>
          <a:prstGeom prst="rect">
            <a:avLst/>
          </a:prstGeom>
          <a:solidFill>
            <a:srgbClr val="1A5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380744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5C518"/>
                </a:solidFill>
              </a:rPr>
              <a:t>«interface»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536192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Tile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719072"/>
            <a:ext cx="192024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" y="1773936"/>
            <a:ext cx="179222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D0E4F7"/>
                </a:solidFill>
              </a:rPr>
              <a:t>+ getName(): String</a:t>
            </a:r>
          </a:p>
          <a:p>
            <a:r>
              <a:rPr sz="900">
                <a:solidFill>
                  <a:srgbClr val="D0E4F7"/>
                </a:solidFill>
              </a:rPr>
              <a:t>+ landOn(Player)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34640" y="1371600"/>
            <a:ext cx="2560320" cy="146304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34640" y="1371600"/>
            <a:ext cx="2560320" cy="347472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34640" y="138074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5C518"/>
                </a:solidFill>
              </a:rPr>
              <a:t>«abstract»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153619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Player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34640" y="1719072"/>
            <a:ext cx="256032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98648" y="1773936"/>
            <a:ext cx="2432303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D0E4F7"/>
                </a:solidFill>
              </a:rPr>
              <a:t>+ takeTurn(Board,Dice)</a:t>
            </a:r>
          </a:p>
          <a:p>
            <a:r>
              <a:rPr sz="900">
                <a:solidFill>
                  <a:srgbClr val="D0E4F7"/>
                </a:solidFill>
              </a:rPr>
              <a:t>+ pay(amount)</a:t>
            </a:r>
          </a:p>
          <a:p>
            <a:r>
              <a:rPr sz="900">
                <a:solidFill>
                  <a:srgbClr val="D0E4F7"/>
                </a:solidFill>
              </a:rPr>
              <a:t>+ receive(amount)</a:t>
            </a:r>
          </a:p>
          <a:p>
            <a:r>
              <a:rPr sz="900">
                <a:solidFill>
                  <a:srgbClr val="D0E4F7"/>
                </a:solidFill>
              </a:rPr>
              <a:t>+ move(steps)</a:t>
            </a:r>
          </a:p>
          <a:p>
            <a:r>
              <a:rPr sz="900">
                <a:solidFill>
                  <a:srgbClr val="D0E4F7"/>
                </a:solidFill>
              </a:rPr>
              <a:t>+ clone()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1371600"/>
            <a:ext cx="2194560" cy="118872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0" y="1371600"/>
            <a:ext cx="2194560" cy="347472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380744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5C518"/>
                </a:solidFill>
              </a:rPr>
              <a:t>«abstract»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5361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EventCard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1719072"/>
            <a:ext cx="219456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8" y="1773936"/>
            <a:ext cx="206654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D0E4F7"/>
                </a:solidFill>
              </a:rPr>
              <a:t>+ apply(Player)</a:t>
            </a:r>
          </a:p>
          <a:p>
            <a:r>
              <a:rPr sz="900">
                <a:solidFill>
                  <a:srgbClr val="D0E4F7"/>
                </a:solidFill>
              </a:rPr>
              <a:t>+ getDescription()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35440" y="1371600"/>
            <a:ext cx="2651760" cy="146304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35440" y="1371600"/>
            <a:ext cx="2651760" cy="292608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0" y="1426464"/>
            <a:ext cx="2651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Game / GUIGame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35440" y="1664208"/>
            <a:ext cx="265176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99448" y="1773936"/>
            <a:ext cx="252374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D0E4F7"/>
                </a:solidFill>
              </a:rPr>
              <a:t>+ start()</a:t>
            </a:r>
          </a:p>
          <a:p>
            <a:r>
              <a:rPr sz="900">
                <a:solidFill>
                  <a:srgbClr val="D0E4F7"/>
                </a:solidFill>
              </a:rPr>
              <a:t>+ addPlayer()</a:t>
            </a:r>
          </a:p>
          <a:p>
            <a:r>
              <a:rPr sz="900">
                <a:solidFill>
                  <a:srgbClr val="D0E4F7"/>
                </a:solidFill>
              </a:rPr>
              <a:t>+ removePlayer()</a:t>
            </a:r>
          </a:p>
          <a:p>
            <a:r>
              <a:rPr sz="900">
                <a:solidFill>
                  <a:srgbClr val="D0E4F7"/>
                </a:solidFill>
              </a:rPr>
              <a:t>+ findPlayer()</a:t>
            </a:r>
          </a:p>
          <a:p>
            <a:r>
              <a:rPr sz="900">
                <a:solidFill>
                  <a:srgbClr val="D0E4F7"/>
                </a:solidFill>
              </a:rPr>
              <a:t>+ sortByWealth()</a:t>
            </a:r>
          </a:p>
          <a:p>
            <a:r>
              <a:rPr sz="900">
                <a:solidFill>
                  <a:srgbClr val="D0E4F7"/>
                </a:solidFill>
              </a:rPr>
              <a:t>+ clonePlayers()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657600"/>
            <a:ext cx="1920240" cy="137160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4320" y="3657600"/>
            <a:ext cx="1920240" cy="292608"/>
          </a:xfrm>
          <a:prstGeom prst="rect">
            <a:avLst/>
          </a:prstGeom>
          <a:solidFill>
            <a:srgbClr val="1A5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3712463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PropertyTile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3950208"/>
            <a:ext cx="192024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8328" y="4059936"/>
            <a:ext cx="17922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D0E4F7"/>
                </a:solidFill>
              </a:rPr>
              <a:t>owner, level</a:t>
            </a:r>
          </a:p>
          <a:p>
            <a:r>
              <a:rPr sz="900">
                <a:solidFill>
                  <a:srgbClr val="D0E4F7"/>
                </a:solidFill>
              </a:rPr>
              <a:t>+ landOn()</a:t>
            </a:r>
          </a:p>
          <a:p>
            <a:r>
              <a:rPr sz="900">
                <a:solidFill>
                  <a:srgbClr val="D0E4F7"/>
                </a:solidFill>
              </a:rPr>
              <a:t>+ chargeRent()</a:t>
            </a:r>
          </a:p>
          <a:p>
            <a:r>
              <a:rPr sz="900">
                <a:solidFill>
                  <a:srgbClr val="D0E4F7"/>
                </a:solidFill>
              </a:rPr>
              <a:t>+ offerUpgrade()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3657600"/>
            <a:ext cx="1920240" cy="137160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331720" y="3657600"/>
            <a:ext cx="1920240" cy="292608"/>
          </a:xfrm>
          <a:prstGeom prst="rect">
            <a:avLst/>
          </a:prstGeom>
          <a:solidFill>
            <a:srgbClr val="1A5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31720" y="3712463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ShuttleStation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331720" y="3950208"/>
            <a:ext cx="192024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95727" y="4059936"/>
            <a:ext cx="17922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D0E4F7"/>
                </a:solidFill>
              </a:rPr>
              <a:t>owner, RENT[]</a:t>
            </a:r>
          </a:p>
          <a:p>
            <a:r>
              <a:rPr sz="900">
                <a:solidFill>
                  <a:srgbClr val="D0E4F7"/>
                </a:solidFill>
              </a:rPr>
              <a:t>+ landOn()</a:t>
            </a:r>
          </a:p>
          <a:p>
            <a:r>
              <a:rPr sz="900">
                <a:solidFill>
                  <a:srgbClr val="D0E4F7"/>
                </a:solidFill>
              </a:rPr>
              <a:t>+ getCurrentRent()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43400" y="3657600"/>
            <a:ext cx="1920240" cy="137160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343400" y="3657600"/>
            <a:ext cx="1920240" cy="292608"/>
          </a:xfrm>
          <a:prstGeom prst="rect">
            <a:avLst/>
          </a:prstGeom>
          <a:solidFill>
            <a:srgbClr val="1A5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43400" y="3712463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StartTile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43400" y="3950208"/>
            <a:ext cx="192024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07408" y="4059936"/>
            <a:ext cx="17922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D0E4F7"/>
                </a:solidFill>
              </a:rPr>
              <a:t>+ landOn()</a:t>
            </a:r>
          </a:p>
          <a:p>
            <a:r>
              <a:rPr sz="900">
                <a:solidFill>
                  <a:srgbClr val="D0E4F7"/>
                </a:solidFill>
              </a:rPr>
              <a:t>+ playRoulette()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63640" y="3657600"/>
            <a:ext cx="1920240" cy="137160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63640" y="3657600"/>
            <a:ext cx="1920240" cy="292608"/>
          </a:xfrm>
          <a:prstGeom prst="rect">
            <a:avLst/>
          </a:prstGeom>
          <a:solidFill>
            <a:srgbClr val="1A5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3712463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JailTile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63640" y="3950208"/>
            <a:ext cx="192024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27648" y="4059936"/>
            <a:ext cx="17922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D0E4F7"/>
                </a:solidFill>
              </a:rPr>
              <a:t>+ landOn()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092440" y="3657600"/>
            <a:ext cx="1920240" cy="137160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092440" y="3657600"/>
            <a:ext cx="1920240" cy="292608"/>
          </a:xfrm>
          <a:prstGeom prst="rect">
            <a:avLst/>
          </a:prstGeom>
          <a:solidFill>
            <a:srgbClr val="1A5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92440" y="3712463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AirportTile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92440" y="3950208"/>
            <a:ext cx="192024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156448" y="4059936"/>
            <a:ext cx="17922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D0E4F7"/>
                </a:solidFill>
              </a:rPr>
              <a:t>+ landOn()</a:t>
            </a:r>
          </a:p>
          <a:p>
            <a:r>
              <a:rPr sz="900">
                <a:solidFill>
                  <a:srgbClr val="D0E4F7"/>
                </a:solidFill>
              </a:rPr>
              <a:t>teleport logic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921240" y="3657600"/>
            <a:ext cx="1920240" cy="137160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921240" y="3657600"/>
            <a:ext cx="1920240" cy="292608"/>
          </a:xfrm>
          <a:prstGeom prst="rect">
            <a:avLst/>
          </a:prstGeom>
          <a:solidFill>
            <a:srgbClr val="1A5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921240" y="3712463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WorldChamp.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921240" y="3950208"/>
            <a:ext cx="192024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985248" y="4059936"/>
            <a:ext cx="17922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D0E4F7"/>
                </a:solidFill>
              </a:rPr>
              <a:t>multiplier (static)</a:t>
            </a:r>
          </a:p>
          <a:p>
            <a:r>
              <a:rPr sz="900">
                <a:solidFill>
                  <a:srgbClr val="D0E4F7"/>
                </a:solidFill>
              </a:rPr>
              <a:t>+ landOn()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834640" y="3657600"/>
            <a:ext cx="1645920" cy="100584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834640" y="3657600"/>
            <a:ext cx="1645920" cy="292608"/>
          </a:xfrm>
          <a:prstGeom prst="rect">
            <a:avLst/>
          </a:prstGeom>
          <a:solidFill>
            <a:srgbClr val="4A1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834640" y="3712463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HumanPlayer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834640" y="3950208"/>
            <a:ext cx="164592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898648" y="4059936"/>
            <a:ext cx="15179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D0E4F7"/>
                </a:solidFill>
              </a:rPr>
              <a:t>+ takeTurn()</a:t>
            </a:r>
          </a:p>
          <a:p>
            <a:r>
              <a:rPr sz="900">
                <a:solidFill>
                  <a:srgbClr val="D0E4F7"/>
                </a:solidFill>
              </a:rPr>
              <a:t>+ trySell…()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617720" y="3657600"/>
            <a:ext cx="1645920" cy="91440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617720" y="3657600"/>
            <a:ext cx="1645920" cy="292608"/>
          </a:xfrm>
          <a:prstGeom prst="rect">
            <a:avLst/>
          </a:prstGeom>
          <a:solidFill>
            <a:srgbClr val="4A1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17720" y="3712463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BotPlayer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617720" y="3950208"/>
            <a:ext cx="164592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681728" y="4059936"/>
            <a:ext cx="15179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D0E4F7"/>
                </a:solidFill>
              </a:rPr>
              <a:t>+ takeTurn()</a:t>
            </a:r>
          </a:p>
          <a:p>
            <a:r>
              <a:rPr sz="900">
                <a:solidFill>
                  <a:srgbClr val="D0E4F7"/>
                </a:solidFill>
              </a:rPr>
              <a:t>+ wantsToBuy()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492240" y="3657600"/>
            <a:ext cx="1371600" cy="91440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492240" y="3657600"/>
            <a:ext cx="1371600" cy="292608"/>
          </a:xfrm>
          <a:prstGeom prst="rect">
            <a:avLst/>
          </a:prstGeom>
          <a:solidFill>
            <a:srgbClr val="4A1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92240" y="3712463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BonusCard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492240" y="3950208"/>
            <a:ext cx="137160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556248" y="4059936"/>
            <a:ext cx="1243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D0E4F7"/>
                </a:solidFill>
              </a:rPr>
              <a:t>amount</a:t>
            </a:r>
          </a:p>
          <a:p>
            <a:r>
              <a:rPr sz="900">
                <a:solidFill>
                  <a:srgbClr val="D0E4F7"/>
                </a:solidFill>
              </a:rPr>
              <a:t>+ apply()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01000" y="3657600"/>
            <a:ext cx="1371600" cy="91440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8001000" y="3657600"/>
            <a:ext cx="1371600" cy="292608"/>
          </a:xfrm>
          <a:prstGeom prst="rect">
            <a:avLst/>
          </a:prstGeom>
          <a:solidFill>
            <a:srgbClr val="4A1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001000" y="3712463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PenaltyCard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01000" y="3950208"/>
            <a:ext cx="137160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65008" y="4059936"/>
            <a:ext cx="1243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D0E4F7"/>
                </a:solidFill>
              </a:rPr>
              <a:t>amount</a:t>
            </a:r>
          </a:p>
          <a:p>
            <a:r>
              <a:rPr sz="900">
                <a:solidFill>
                  <a:srgbClr val="D0E4F7"/>
                </a:solidFill>
              </a:rPr>
              <a:t>+ apply()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834640" y="5029200"/>
            <a:ext cx="2377440" cy="77724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834640" y="5029200"/>
            <a:ext cx="2377440" cy="292608"/>
          </a:xfrm>
          <a:prstGeom prst="rect">
            <a:avLst/>
          </a:prstGeom>
          <a:solidFill>
            <a:srgbClr val="8B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834640" y="50840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InsufficientFundsException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834640" y="5321808"/>
            <a:ext cx="237744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898648" y="5431536"/>
            <a:ext cx="22494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D0E4F7"/>
                </a:solidFill>
              </a:rPr>
              <a:t>extends Exception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349240" y="5029200"/>
            <a:ext cx="2377440" cy="77724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349240" y="5029200"/>
            <a:ext cx="2377440" cy="292608"/>
          </a:xfrm>
          <a:prstGeom prst="rect">
            <a:avLst/>
          </a:prstGeom>
          <a:solidFill>
            <a:srgbClr val="8B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349240" y="50840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InvalidPlayerCountException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349240" y="5321808"/>
            <a:ext cx="237744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413248" y="5431536"/>
            <a:ext cx="22494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D0E4F7"/>
                </a:solidFill>
              </a:rPr>
              <a:t>extends Exception</a:t>
            </a:r>
          </a:p>
        </p:txBody>
      </p:sp>
      <p:cxnSp>
        <p:nvCxnSpPr>
          <p:cNvPr id="89" name="Connector 88"/>
          <p:cNvCxnSpPr/>
          <p:nvPr/>
        </p:nvCxnSpPr>
        <p:spPr>
          <a:xfrm flipV="1">
            <a:off x="1234440" y="2560320"/>
            <a:ext cx="0" cy="1097280"/>
          </a:xfrm>
          <a:prstGeom prst="line">
            <a:avLst/>
          </a:prstGeom>
          <a:ln w="15240">
            <a:solidFill>
              <a:srgbClr val="27AE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 flipV="1">
            <a:off x="1234440" y="2560320"/>
            <a:ext cx="2057399" cy="1097280"/>
          </a:xfrm>
          <a:prstGeom prst="line">
            <a:avLst/>
          </a:prstGeom>
          <a:ln w="15240">
            <a:solidFill>
              <a:srgbClr val="27AE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 flipV="1">
            <a:off x="1234440" y="2560320"/>
            <a:ext cx="4069080" cy="1097280"/>
          </a:xfrm>
          <a:prstGeom prst="line">
            <a:avLst/>
          </a:prstGeom>
          <a:ln w="15240">
            <a:solidFill>
              <a:srgbClr val="27AE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H="1" flipV="1">
            <a:off x="1234440" y="2560320"/>
            <a:ext cx="5989319" cy="1097280"/>
          </a:xfrm>
          <a:prstGeom prst="line">
            <a:avLst/>
          </a:prstGeom>
          <a:ln w="15240">
            <a:solidFill>
              <a:srgbClr val="27AE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H="1" flipV="1">
            <a:off x="1234440" y="2560320"/>
            <a:ext cx="7818120" cy="1097280"/>
          </a:xfrm>
          <a:prstGeom prst="line">
            <a:avLst/>
          </a:prstGeom>
          <a:ln w="15240">
            <a:solidFill>
              <a:srgbClr val="27AE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H="1" flipV="1">
            <a:off x="1234440" y="2560320"/>
            <a:ext cx="9646920" cy="1097280"/>
          </a:xfrm>
          <a:prstGeom prst="line">
            <a:avLst/>
          </a:prstGeom>
          <a:ln w="15240">
            <a:solidFill>
              <a:srgbClr val="27AE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3657600" y="2834640"/>
            <a:ext cx="457200" cy="822960"/>
          </a:xfrm>
          <a:prstGeom prst="line">
            <a:avLst/>
          </a:prstGeom>
          <a:ln w="15240">
            <a:solidFill>
              <a:srgbClr val="AA5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H="1" flipV="1">
            <a:off x="4572000" y="2834640"/>
            <a:ext cx="868680" cy="822960"/>
          </a:xfrm>
          <a:prstGeom prst="line">
            <a:avLst/>
          </a:prstGeom>
          <a:ln w="15240">
            <a:solidFill>
              <a:srgbClr val="AA5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7178040" y="2560320"/>
            <a:ext cx="320039" cy="1097280"/>
          </a:xfrm>
          <a:prstGeom prst="line">
            <a:avLst/>
          </a:prstGeom>
          <a:ln w="15240">
            <a:solidFill>
              <a:srgbClr val="AA5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H="1" flipV="1">
            <a:off x="7863840" y="2560320"/>
            <a:ext cx="822960" cy="1097280"/>
          </a:xfrm>
          <a:prstGeom prst="line">
            <a:avLst/>
          </a:prstGeom>
          <a:ln w="15240">
            <a:solidFill>
              <a:srgbClr val="AA55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ectangle 98"/>
          <p:cNvSpPr/>
          <p:nvPr/>
        </p:nvSpPr>
        <p:spPr>
          <a:xfrm>
            <a:off x="274320" y="6172200"/>
            <a:ext cx="11612880" cy="502920"/>
          </a:xfrm>
          <a:prstGeom prst="rect">
            <a:avLst/>
          </a:prstGeom>
          <a:solidFill>
            <a:srgbClr val="08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65760" y="6199632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BAD"/>
                </a:solidFill>
              </a:rPr>
              <a:t>■ ממשק (ירוק)    ■ אבסטרקטי (סגול)    ■ קונקרטי (כחול)    ■ חריגה (אדום)    ← implements    ← extends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