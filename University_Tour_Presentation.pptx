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סיור באוניברסיטה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1 — תיאור המערכת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325880"/>
            <a:ext cx="3474720" cy="530352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554480"/>
            <a:ext cx="31089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0" b="0" i="0">
                <a:solidFill>
                  <a:srgbClr val="FFFFFF"/>
                </a:solidFill>
              </a:rPr>
              <a:t>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" y="29260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000" b="1" i="0">
                <a:solidFill>
                  <a:srgbClr val="F5C518"/>
                </a:solidFill>
              </a:rPr>
              <a:t>סיור באוניברסיטה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3749039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0" i="1">
                <a:solidFill>
                  <a:srgbClr val="D0E4F7"/>
                </a:solidFill>
              </a:rPr>
              <a:t>משחק לוח בסגנון מונופולי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434340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4398264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41655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ריבועים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489204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4946903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24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96519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נכסים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544068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5495544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51383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תחנות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0040" y="5989320"/>
            <a:ext cx="3383280" cy="475488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6044183"/>
            <a:ext cx="640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6062472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400" b="0" i="0">
                <a:solidFill>
                  <a:srgbClr val="FFFFFF"/>
                </a:solidFill>
              </a:rPr>
              <a:t>ניצחון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31920" y="14173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מה זה?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1920" y="1874519"/>
            <a:ext cx="8046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>
                <a:solidFill>
                  <a:srgbClr val="FFFFFF"/>
                </a:solidFill>
              </a:rPr>
              <a:t>● משחק לוח בסגנון מונופולי בנושא קורסי אוניברסיטה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2–4 שחקנים: אנושיים או בוטים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לוח של 36 ריבועים: נכסים, תחנות וריבועים מיוחדים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שתי גרסאות: קונסול (JOptionPane) וממשק גרפי (Swing GUI)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31920" y="3749039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תכונות עיקריות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31920" y="42519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>
                <a:solidFill>
                  <a:srgbClr val="FFFFFF"/>
                </a:solidFill>
              </a:rPr>
              <a:t>● קנייה ושדרוג נכסים: קרקע ← בית 1 ← בית 2 ← בית 3 ← מלון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מיני-גיים רולטה בריבוע התחלה — 10 סוגי הימור, עד 35:1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שדה תעופה (טלפורט), כלא, מכפיל אליפות עולמית</a:t>
            </a:r>
          </a:p>
          <a:p>
            <a:pPr algn="r" rtl="1"/>
            <a:r>
              <a:rPr sz="1700">
                <a:solidFill>
                  <a:srgbClr val="FFFFFF"/>
                </a:solidFill>
              </a:rPr>
              <a:t>● 3 תנאי ניצחון: 4 תחנות | 3 מונופולים | שורה מלאה בלוח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תכנית עבודה ואילוצים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2 — Milestones + אילוצים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141732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אבני דרך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920240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0" y="1975104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95681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תכנון UML וחלוקת מחלקות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587752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642616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624328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מחלקות בסיס: Player, Tile, Board, Dice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255264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3310128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291840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לולאת משחק: תורות, תשלומים, כלא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922776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3977639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5120" y="3959352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טיילים מיוחדים: Airport, WorldChampionships, Roulette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90288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0" y="4645151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62686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GUI מלא: BoardPanel, SidebarPanel, דיאלוגים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17920" y="5257800"/>
            <a:ext cx="384048" cy="41148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0" y="5312664"/>
            <a:ext cx="3840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5C518"/>
                </a:solidFill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5294376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0">
                <a:solidFill>
                  <a:srgbClr val="FFFFFF"/>
                </a:solidFill>
              </a:rPr>
              <a:t>בדיקות, מקרי קצה ועדכון סופי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89320" y="1325880"/>
            <a:ext cx="36576" cy="53035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100" b="1" i="0">
                <a:solidFill>
                  <a:srgbClr val="F5C518"/>
                </a:solidFill>
              </a:rPr>
              <a:t>אילוצים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" y="1920240"/>
            <a:ext cx="557784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600">
                <a:solidFill>
                  <a:srgbClr val="D0E4F7"/>
                </a:solidFill>
              </a:rPr>
              <a:t>⚠  Java בלבד — ספריות סטנדרטיות (javax.swing, java.util)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ללא תלויות חיצוניות — רץ על כל JDK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גרסת קונסול וגרסת GUI חולקות אותה לוגיקת משחק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מקרי קצה: פשיטת רגל, קנס כלא, נעילת בית 3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הבוט לא חוסם את ה-UI thread האנושי</a:t>
            </a:r>
          </a:p>
          <a:p>
            <a:pPr algn="r" rtl="1"/>
            <a:r>
              <a:rPr sz="1600">
                <a:solidFill>
                  <a:srgbClr val="D0E4F7"/>
                </a:solidFill>
              </a:rPr>
              <a:t>⚠  מועד הגשה: 10.7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פונקציונליות הפרויקט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3 — תכונות וזרימת משחק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7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5C518"/>
                </a:solidFill>
              </a:rPr>
              <a:t>🏠  נכסים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7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>
                <a:solidFill>
                  <a:srgbClr val="D0E4F7"/>
                </a:solidFill>
              </a:rPr>
              <a:t>✓  24 נכסים ב-8 קבוצות צבע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קנייה ב-4 רמות: קרקע / בתים / מלון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שכירות: x1 -&gt; x3 -&gt; x6 -&gt; x10 -&gt; x16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מכירה ב-75% מערך הרכישה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בית 3 נעול עד סיום סיבוב ראשון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59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51959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39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5C518"/>
                </a:solidFill>
              </a:rPr>
              <a:t>🎲  ריבועים מיוחדים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39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>
                <a:solidFill>
                  <a:srgbClr val="D0E4F7"/>
                </a:solidFill>
              </a:rPr>
              <a:t>✓  התחלה: 200k + קזינו רולטה (10 סוגי הימור)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כלא: 3 תורות, בריחה בתשלום או doubles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שדה תעופה: טלפורט ב-100k לנכס פנוי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אליפות עולמית: מכפיל שכירות (x2, x3...)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כרטיסי מזל: בונוסים ועונשים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1371600"/>
            <a:ext cx="3657600" cy="5212080"/>
          </a:xfrm>
          <a:prstGeom prst="rect">
            <a:avLst/>
          </a:prstGeom>
          <a:solidFill>
            <a:srgbClr val="0A14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83879" y="1371600"/>
            <a:ext cx="3657600" cy="5029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75319" y="13898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700" b="1" i="0">
                <a:solidFill>
                  <a:srgbClr val="F5C518"/>
                </a:solidFill>
              </a:rPr>
              <a:t>🤖  שחקנים וניצחון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1920240"/>
            <a:ext cx="3474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>
                <a:solidFill>
                  <a:srgbClr val="D0E4F7"/>
                </a:solidFill>
              </a:rPr>
              <a:t>✓  אנושי: JOptionPane + GUI מלא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בוט: קנייה אוטומטית אם מחיר &lt; 40% מהכסף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ניצחון: 4 תחנות שאטל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ניצחון: 3 מונופולים צבעוניים</a:t>
            </a:r>
          </a:p>
          <a:p>
            <a:pPr algn="r" rtl="1"/>
            <a:r>
              <a:rPr sz="1500">
                <a:solidFill>
                  <a:srgbClr val="D0E4F7"/>
                </a:solidFill>
              </a:rPr>
              <a:t>✓  ניצחון: כל הנכסים בצלע אחת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88720"/>
            <a:ext cx="12188952" cy="45720"/>
          </a:xfrm>
          <a:prstGeom prst="rect">
            <a:avLst/>
          </a:prstGeom>
          <a:solidFill>
            <a:srgbClr val="F5C5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91440"/>
            <a:ext cx="11612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3400" b="1" i="0">
                <a:solidFill>
                  <a:srgbClr val="FFFFFF"/>
                </a:solidFill>
              </a:rPr>
              <a:t>דיאגרמת UML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749808"/>
            <a:ext cx="11612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500" b="0" i="1">
                <a:solidFill>
                  <a:srgbClr val="F5C518"/>
                </a:solidFill>
              </a:rPr>
              <a:t>שקופית 4 — עיצוב מונחה עצמים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" y="1353312"/>
            <a:ext cx="2011680" cy="12344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28600" y="1353312"/>
            <a:ext cx="2011680" cy="365760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8600" y="1362456"/>
            <a:ext cx="2011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«interface»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" y="1527048"/>
            <a:ext cx="20116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Tile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8600" y="1719072"/>
            <a:ext cx="201168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1764792"/>
            <a:ext cx="19202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getName(): String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landOn(Player)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06040" y="1353312"/>
            <a:ext cx="2743200" cy="150876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606040" y="1353312"/>
            <a:ext cx="27432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06040" y="1362456"/>
            <a:ext cx="27432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«abstract»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06040" y="152704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Player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06040" y="1719072"/>
            <a:ext cx="27432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51760" y="1764792"/>
            <a:ext cx="2651760" cy="1069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takeTurn(Board, Dice)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pay(amount)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receive(amount)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move(steps)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clone(): Player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06440" y="1353312"/>
            <a:ext cx="2286000" cy="114300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806440" y="1353312"/>
            <a:ext cx="2286000" cy="365760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06440" y="1362456"/>
            <a:ext cx="2286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F5C518"/>
                </a:solidFill>
              </a:rPr>
              <a:t>«abstract»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1527048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EventCard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06440" y="1719072"/>
            <a:ext cx="22860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52159" y="1764792"/>
            <a:ext cx="219456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apply(Player)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getDescription()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549640" y="1353312"/>
            <a:ext cx="3337560" cy="150876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549640" y="1353312"/>
            <a:ext cx="3337560" cy="301752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49640" y="1408176"/>
            <a:ext cx="33375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Game / GUIGame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549640" y="1655064"/>
            <a:ext cx="333756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1700784"/>
            <a:ext cx="3246120" cy="11338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start()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addPlayer() / removePlayer()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findPlayer(name)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sortByWealth()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clonePlayers()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28600" y="2907792"/>
            <a:ext cx="11750040" cy="228600"/>
          </a:xfrm>
          <a:prstGeom prst="rect">
            <a:avLst/>
          </a:prstGeom>
          <a:solidFill>
            <a:srgbClr val="0610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74320" y="2926080"/>
            <a:ext cx="4572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7AE60"/>
                </a:solidFill>
              </a:rPr>
              <a:t>implements  Tile ↓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28600" y="3154680"/>
            <a:ext cx="1828800" cy="12618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8600" y="3154680"/>
            <a:ext cx="182880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8600" y="32095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PropertyTile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8600" y="345643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4320" y="3502152"/>
            <a:ext cx="1737360" cy="886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owner, level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chargeRent()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08" y="3154680"/>
            <a:ext cx="1828800" cy="12618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121408" y="3154680"/>
            <a:ext cx="182880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121408" y="32095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ShuttleStn.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121408" y="345643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167127" y="3502152"/>
            <a:ext cx="1737360" cy="886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RENT[4]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getRent()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14215" y="3154680"/>
            <a:ext cx="1828800" cy="12618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14215" y="3154680"/>
            <a:ext cx="182880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014215" y="32095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StartTile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014215" y="345643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059935" y="3502152"/>
            <a:ext cx="1737360" cy="886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playRoulette()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907023" y="3154680"/>
            <a:ext cx="1828800" cy="12618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07023" y="3154680"/>
            <a:ext cx="182880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07023" y="32095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JailTile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07023" y="345643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952743" y="3502152"/>
            <a:ext cx="1737360" cy="886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799831" y="3154680"/>
            <a:ext cx="1828800" cy="12618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799831" y="3154680"/>
            <a:ext cx="182880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799831" y="32095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AirportTile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799831" y="345643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45552" y="3502152"/>
            <a:ext cx="1737360" cy="886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toll=100k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692640" y="3154680"/>
            <a:ext cx="1828800" cy="1261872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9692640" y="3154680"/>
            <a:ext cx="1828800" cy="301752"/>
          </a:xfrm>
          <a:prstGeom prst="rect">
            <a:avLst/>
          </a:prstGeom>
          <a:solidFill>
            <a:srgbClr val="1A5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0" y="320954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WorldChamp.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92640" y="345643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738360" y="3502152"/>
            <a:ext cx="1737360" cy="8869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multiplier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landOn()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28600" y="4462272"/>
            <a:ext cx="11750040" cy="228600"/>
          </a:xfrm>
          <a:prstGeom prst="rect">
            <a:avLst/>
          </a:prstGeom>
          <a:solidFill>
            <a:srgbClr val="0806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74320" y="44805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55DD"/>
                </a:solidFill>
              </a:rPr>
              <a:t>extends  Player ↓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29200" y="4480560"/>
            <a:ext cx="3657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AA55DD"/>
                </a:solidFill>
              </a:rPr>
              <a:t>extends  EventCard ↓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28600" y="4709160"/>
            <a:ext cx="2011680" cy="10058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228600" y="4709160"/>
            <a:ext cx="201168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228600" y="4764024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HumanPlayer</a:t>
            </a:r>
          </a:p>
        </p:txBody>
      </p:sp>
      <p:sp>
        <p:nvSpPr>
          <p:cNvPr id="67" name="Rectangle 66"/>
          <p:cNvSpPr/>
          <p:nvPr/>
        </p:nvSpPr>
        <p:spPr>
          <a:xfrm>
            <a:off x="228600" y="5010912"/>
            <a:ext cx="201168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74320" y="5056632"/>
            <a:ext cx="192024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takeTurn()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trySell…()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331720" y="4709160"/>
            <a:ext cx="1920240" cy="10058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2331720" y="4709160"/>
            <a:ext cx="192024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331720" y="47640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BotPlayer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331720" y="50109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377439" y="5056632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+ takeTurn()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wantsToBuy()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754880" y="4709160"/>
            <a:ext cx="1828800" cy="10058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754880" y="4709160"/>
            <a:ext cx="182880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754880" y="4764024"/>
            <a:ext cx="1828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BonusCard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754880" y="5010912"/>
            <a:ext cx="182880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800600" y="5056632"/>
            <a:ext cx="173736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amount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apply()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675120" y="4709160"/>
            <a:ext cx="1920240" cy="10058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675120" y="4709160"/>
            <a:ext cx="1920240" cy="301752"/>
          </a:xfrm>
          <a:prstGeom prst="rect">
            <a:avLst/>
          </a:prstGeom>
          <a:solidFill>
            <a:srgbClr val="4A1D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675120" y="476402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PenaltyCard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675120" y="5010912"/>
            <a:ext cx="19202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720840" y="5056632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amount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apply()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869680" y="4709160"/>
            <a:ext cx="3108960" cy="1005840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8869680" y="4709160"/>
            <a:ext cx="3108960" cy="301752"/>
          </a:xfrm>
          <a:prstGeom prst="rect">
            <a:avLst/>
          </a:prstGeom>
          <a:solidFill>
            <a:srgbClr val="1B6C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869680" y="4764024"/>
            <a:ext cx="31089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Board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869680" y="5010912"/>
            <a:ext cx="310896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915400" y="5056632"/>
            <a:ext cx="301752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ArrayList&lt;Tile&gt; (36)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getTile(pos)</a:t>
            </a:r>
          </a:p>
          <a:p>
            <a:pPr algn="l"/>
            <a:r>
              <a:rPr sz="900">
                <a:solidFill>
                  <a:srgbClr val="D0E4F7"/>
                </a:solidFill>
              </a:rPr>
              <a:t>  + getSize()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28600" y="5833872"/>
            <a:ext cx="2834640" cy="749808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228600" y="5833872"/>
            <a:ext cx="2834640" cy="301752"/>
          </a:xfrm>
          <a:prstGeom prst="rect">
            <a:avLst/>
          </a:prstGeom>
          <a:solidFill>
            <a:srgbClr val="8B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28600" y="5888736"/>
            <a:ext cx="28346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InsufficientFundsException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28600" y="6135624"/>
            <a:ext cx="283464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274320" y="6181344"/>
            <a:ext cx="2743200" cy="374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extends Exception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154680" y="5833872"/>
            <a:ext cx="2926080" cy="749808"/>
          </a:xfrm>
          <a:prstGeom prst="rect">
            <a:avLst/>
          </a:prstGeom>
          <a:solidFill>
            <a:srgbClr val="081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3154680" y="5833872"/>
            <a:ext cx="2926080" cy="301752"/>
          </a:xfrm>
          <a:prstGeom prst="rect">
            <a:avLst/>
          </a:prstGeom>
          <a:solidFill>
            <a:srgbClr val="8B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154680" y="5888736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InvalidPlayerCountException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154680" y="6135624"/>
            <a:ext cx="2926080" cy="18288"/>
          </a:xfrm>
          <a:prstGeom prst="rect">
            <a:avLst/>
          </a:prstGeom>
          <a:solidFill>
            <a:srgbClr val="8A9B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3200400" y="6181344"/>
            <a:ext cx="2834640" cy="374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D0E4F7"/>
                </a:solidFill>
              </a:rPr>
              <a:t>  extends Exception</a:t>
            </a:r>
          </a:p>
        </p:txBody>
      </p:sp>
      <p:sp>
        <p:nvSpPr>
          <p:cNvPr id="99" name="Rectangle 98"/>
          <p:cNvSpPr/>
          <p:nvPr/>
        </p:nvSpPr>
        <p:spPr>
          <a:xfrm>
            <a:off x="6583680" y="5833872"/>
            <a:ext cx="5394960" cy="749808"/>
          </a:xfrm>
          <a:prstGeom prst="rect">
            <a:avLst/>
          </a:prstGeom>
          <a:solidFill>
            <a:srgbClr val="060E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675120" y="5852160"/>
            <a:ext cx="52120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A9BAD"/>
                </a:solidFill>
              </a:rPr>
              <a:t>■ Interface (green)  ■ Abstract (purple)
■ Concrete (blue/green)  ■ Exception (red)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